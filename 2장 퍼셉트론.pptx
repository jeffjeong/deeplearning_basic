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2" r:id="rId5"/>
    <p:sldId id="259" r:id="rId6"/>
    <p:sldId id="260" r:id="rId7"/>
    <p:sldId id="263" r:id="rId8"/>
    <p:sldId id="261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74309" autoAdjust="0"/>
  </p:normalViewPr>
  <p:slideViewPr>
    <p:cSldViewPr snapToGrid="0">
      <p:cViewPr varScale="1">
        <p:scale>
          <a:sx n="86" d="100"/>
          <a:sy n="86" d="100"/>
        </p:scale>
        <p:origin x="678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C47E0-7EBC-4DDC-8DBE-556717A0BF50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9617C8-3807-4189-B5F9-916EF81CE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622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퍼셉트론은</a:t>
            </a:r>
            <a:r>
              <a:rPr lang="ko-KR" altLang="en-US" dirty="0" smtClean="0"/>
              <a:t> 복수의 입력 신호에 각각 고유한 가중치를 부여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이러한 가중치는 결과에 주는 영향력을 조절하는 요소로 작용한다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617C8-3807-4189-B5F9-916EF81CE05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666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결국 </a:t>
            </a:r>
            <a:r>
              <a:rPr lang="en-US" altLang="ko-KR" dirty="0" smtClean="0"/>
              <a:t>AND,</a:t>
            </a:r>
            <a:r>
              <a:rPr lang="en-US" altLang="ko-KR" baseline="0" dirty="0" smtClean="0"/>
              <a:t> NAND, OR</a:t>
            </a:r>
            <a:r>
              <a:rPr lang="ko-KR" altLang="en-US" baseline="0" dirty="0" smtClean="0"/>
              <a:t>회로는 </a:t>
            </a:r>
            <a:r>
              <a:rPr lang="ko-KR" altLang="en-US" baseline="0" dirty="0" err="1" smtClean="0"/>
              <a:t>퍼셉트론이</a:t>
            </a:r>
            <a:r>
              <a:rPr lang="ko-KR" altLang="en-US" baseline="0" dirty="0" smtClean="0"/>
              <a:t> 그 매개변수의 값만 달라지고 내용상 </a:t>
            </a:r>
            <a:r>
              <a:rPr lang="ko-KR" altLang="en-US" baseline="0" dirty="0" err="1" smtClean="0"/>
              <a:t>다를것이</a:t>
            </a:r>
            <a:r>
              <a:rPr lang="ko-KR" altLang="en-US" baseline="0" dirty="0" smtClean="0"/>
              <a:t> 없음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617C8-3807-4189-B5F9-916EF81CE05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298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결국 </a:t>
            </a:r>
            <a:r>
              <a:rPr lang="en-US" altLang="ko-KR" dirty="0" smtClean="0"/>
              <a:t>AND,</a:t>
            </a:r>
            <a:r>
              <a:rPr lang="en-US" altLang="ko-KR" baseline="0" dirty="0" smtClean="0"/>
              <a:t> NAND, OR</a:t>
            </a:r>
            <a:r>
              <a:rPr lang="ko-KR" altLang="en-US" baseline="0" dirty="0" smtClean="0"/>
              <a:t>회로는 </a:t>
            </a:r>
            <a:r>
              <a:rPr lang="ko-KR" altLang="en-US" baseline="0" dirty="0" err="1" smtClean="0"/>
              <a:t>퍼셉트론이</a:t>
            </a:r>
            <a:r>
              <a:rPr lang="ko-KR" altLang="en-US" baseline="0" dirty="0" smtClean="0"/>
              <a:t> 그 매개변수의 값만 달라지고 내용상 </a:t>
            </a:r>
            <a:r>
              <a:rPr lang="ko-KR" altLang="en-US" baseline="0" dirty="0" err="1" smtClean="0"/>
              <a:t>다를것이</a:t>
            </a:r>
            <a:r>
              <a:rPr lang="ko-KR" altLang="en-US" baseline="0" dirty="0" smtClean="0"/>
              <a:t> 없음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617C8-3807-4189-B5F9-916EF81CE05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9206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FE14-0BAA-4932-8CF8-018BD479456D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EB23F-463F-4F65-94A9-F39137F24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237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FE14-0BAA-4932-8CF8-018BD479456D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EB23F-463F-4F65-94A9-F39137F24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558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FE14-0BAA-4932-8CF8-018BD479456D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EB23F-463F-4F65-94A9-F39137F24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714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FE14-0BAA-4932-8CF8-018BD479456D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EB23F-463F-4F65-94A9-F39137F24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134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FE14-0BAA-4932-8CF8-018BD479456D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EB23F-463F-4F65-94A9-F39137F24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738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FE14-0BAA-4932-8CF8-018BD479456D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EB23F-463F-4F65-94A9-F39137F24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157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FE14-0BAA-4932-8CF8-018BD479456D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EB23F-463F-4F65-94A9-F39137F24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849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FE14-0BAA-4932-8CF8-018BD479456D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EB23F-463F-4F65-94A9-F39137F24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29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FE14-0BAA-4932-8CF8-018BD479456D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EB23F-463F-4F65-94A9-F39137F24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368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FE14-0BAA-4932-8CF8-018BD479456D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EB23F-463F-4F65-94A9-F39137F24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110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8FE14-0BAA-4932-8CF8-018BD479456D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EB23F-463F-4F65-94A9-F39137F24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870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8FE14-0BAA-4932-8CF8-018BD479456D}" type="datetimeFigureOut">
              <a:rPr lang="ko-KR" altLang="en-US" smtClean="0"/>
              <a:t>2017-04-28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EB23F-463F-4F65-94A9-F39137F24A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272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2</a:t>
            </a:r>
            <a:r>
              <a:rPr lang="ko-KR" altLang="en-US" dirty="0" smtClean="0"/>
              <a:t>장 </a:t>
            </a:r>
            <a:r>
              <a:rPr lang="ko-KR" altLang="en-US" dirty="0" err="1" smtClean="0"/>
              <a:t>퍼셉트론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19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퍼셉트론</a:t>
            </a:r>
            <a:r>
              <a:rPr lang="ko-KR" altLang="en-US" dirty="0" smtClean="0"/>
              <a:t> 알고리즘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199" y="1690688"/>
            <a:ext cx="4980709" cy="986609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다수의 신호를 입력 </a:t>
            </a:r>
            <a:r>
              <a:rPr lang="ko-KR" altLang="en-US" dirty="0" err="1" smtClean="0"/>
              <a:t>받아서하나의</a:t>
            </a:r>
            <a:r>
              <a:rPr lang="ko-KR" altLang="en-US" dirty="0" smtClean="0"/>
              <a:t> 신호를 출력</a:t>
            </a:r>
            <a:endParaRPr lang="en-US" altLang="ko-KR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타원 3"/>
              <p:cNvSpPr/>
              <p:nvPr/>
            </p:nvSpPr>
            <p:spPr>
              <a:xfrm>
                <a:off x="7152834" y="644540"/>
                <a:ext cx="1562792" cy="155257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0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4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>
          <p:sp>
            <p:nvSpPr>
              <p:cNvPr id="4" name="타원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2834" y="644540"/>
                <a:ext cx="1562792" cy="1552576"/>
              </a:xfrm>
              <a:prstGeom prst="ellipse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타원 4"/>
              <p:cNvSpPr/>
              <p:nvPr/>
            </p:nvSpPr>
            <p:spPr>
              <a:xfrm>
                <a:off x="7152834" y="4605255"/>
                <a:ext cx="1562792" cy="155257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0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4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>
          <p:sp>
            <p:nvSpPr>
              <p:cNvPr id="5" name="타원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2834" y="4605255"/>
                <a:ext cx="1562792" cy="1552576"/>
              </a:xfrm>
              <a:prstGeom prst="ellipse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타원 5"/>
          <p:cNvSpPr/>
          <p:nvPr/>
        </p:nvSpPr>
        <p:spPr>
          <a:xfrm>
            <a:off x="10194171" y="2390993"/>
            <a:ext cx="1562792" cy="15525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endParaRPr lang="ko-KR" altLang="en-US" sz="4000" dirty="0">
              <a:latin typeface="Cambria Math" panose="02040503050406030204" pitchFamily="18" charset="0"/>
            </a:endParaRPr>
          </a:p>
        </p:txBody>
      </p:sp>
      <p:cxnSp>
        <p:nvCxnSpPr>
          <p:cNvPr id="8" name="직선 화살표 연결선 7"/>
          <p:cNvCxnSpPr>
            <a:stCxn id="4" idx="6"/>
            <a:endCxn id="6" idx="1"/>
          </p:cNvCxnSpPr>
          <p:nvPr/>
        </p:nvCxnSpPr>
        <p:spPr>
          <a:xfrm>
            <a:off x="8715626" y="1420828"/>
            <a:ext cx="1707411" cy="1197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>
            <a:stCxn id="5" idx="7"/>
            <a:endCxn id="6" idx="3"/>
          </p:cNvCxnSpPr>
          <p:nvPr/>
        </p:nvCxnSpPr>
        <p:spPr>
          <a:xfrm flipV="1">
            <a:off x="8486760" y="3716200"/>
            <a:ext cx="1936277" cy="1116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내용 개체 틀 2"/>
              <p:cNvSpPr txBox="1">
                <a:spLocks/>
              </p:cNvSpPr>
              <p:nvPr/>
            </p:nvSpPr>
            <p:spPr>
              <a:xfrm>
                <a:off x="829962" y="4556430"/>
                <a:ext cx="4980708" cy="100604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0   (</m:t>
                              </m:r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≤ </m:t>
                              </m:r>
                              <m:r>
                                <a:rPr lang="ko-KR" altLang="en-US" b="0" i="1" dirty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1   (</m:t>
                              </m:r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&gt; </m:t>
                              </m:r>
                              <m:r>
                                <a:rPr lang="ko-KR" altLang="en-US" b="0" i="1" dirty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>
          <p:sp>
            <p:nvSpPr>
              <p:cNvPr id="21" name="내용 개체 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962" y="4556430"/>
                <a:ext cx="4980708" cy="100604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내용 개체 틀 2"/>
              <p:cNvSpPr txBox="1">
                <a:spLocks/>
              </p:cNvSpPr>
              <p:nvPr/>
            </p:nvSpPr>
            <p:spPr>
              <a:xfrm>
                <a:off x="850554" y="2782208"/>
                <a:ext cx="4980709" cy="15673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2000" dirty="0" smtClean="0"/>
                  <a:t>원 </a:t>
                </a:r>
                <a:r>
                  <a:rPr lang="en-US" altLang="ko-KR" sz="2000" dirty="0" smtClean="0"/>
                  <a:t>: </a:t>
                </a:r>
                <a:r>
                  <a:rPr lang="ko-KR" altLang="en-US" sz="2000" dirty="0" smtClean="0"/>
                  <a:t>뉴런</a:t>
                </a:r>
                <a:r>
                  <a:rPr lang="en-US" altLang="ko-KR" sz="2000" dirty="0" smtClean="0"/>
                  <a:t>, </a:t>
                </a:r>
                <a:r>
                  <a:rPr lang="ko-KR" altLang="en-US" sz="2000" dirty="0" err="1" smtClean="0"/>
                  <a:t>노드</a:t>
                </a:r>
                <a:endParaRPr lang="en-US" altLang="ko-KR" sz="2000" dirty="0" smtClean="0"/>
              </a:p>
              <a:p>
                <a14:m>
                  <m:oMath xmlns:m="http://schemas.openxmlformats.org/officeDocument/2006/math"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ko-KR" sz="2000" dirty="0" smtClean="0"/>
                  <a:t> : </a:t>
                </a:r>
                <a:r>
                  <a:rPr lang="ko-KR" altLang="en-US" sz="2000" dirty="0" smtClean="0"/>
                  <a:t>신호가 보내질 때의 가중치</a:t>
                </a:r>
                <a:r>
                  <a:rPr lang="en-US" altLang="ko-KR" sz="2000" dirty="0" smtClean="0"/>
                  <a:t/>
                </a:r>
                <a:br>
                  <a:rPr lang="en-US" altLang="ko-KR" sz="2000" dirty="0" smtClean="0"/>
                </a:br>
                <a:r>
                  <a:rPr lang="en-US" altLang="ko-KR" sz="1600" dirty="0" smtClean="0"/>
                  <a:t>- </a:t>
                </a:r>
                <a:r>
                  <a:rPr lang="ko-KR" altLang="en-US" sz="1600" dirty="0" smtClean="0"/>
                  <a:t>가중치는 신호가 잘</a:t>
                </a:r>
                <a:r>
                  <a:rPr lang="en-US" altLang="ko-KR" sz="1600" dirty="0" smtClean="0"/>
                  <a:t>/</a:t>
                </a:r>
                <a:r>
                  <a:rPr lang="ko-KR" altLang="en-US" sz="1600" dirty="0" smtClean="0"/>
                  <a:t>어렵게 흐르도록 통제</a:t>
                </a:r>
                <a:r>
                  <a:rPr lang="en-US" altLang="ko-KR" sz="1600" dirty="0" smtClean="0"/>
                  <a:t>, </a:t>
                </a:r>
                <a:r>
                  <a:rPr lang="ko-KR" altLang="en-US" sz="1600" dirty="0" smtClean="0"/>
                  <a:t>전류에서의 저항과 유사하다</a:t>
                </a:r>
                <a:endParaRPr lang="en-US" altLang="ko-KR" sz="2000" dirty="0" smtClean="0"/>
              </a:p>
              <a:p>
                <a14:m>
                  <m:oMath xmlns:m="http://schemas.openxmlformats.org/officeDocument/2006/math">
                    <m:r>
                      <a:rPr lang="ko-KR" altLang="en-US" sz="2000" b="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sz="2000" dirty="0" smtClean="0"/>
                  <a:t> : </a:t>
                </a:r>
                <a:r>
                  <a:rPr lang="ko-KR" altLang="en-US" sz="2000" dirty="0" smtClean="0"/>
                  <a:t>임계 값</a:t>
                </a:r>
                <a:r>
                  <a:rPr lang="en-US" altLang="ko-KR" sz="2000" dirty="0" smtClean="0"/>
                  <a:t>,theta = </a:t>
                </a:r>
                <a:r>
                  <a:rPr lang="ko-KR" altLang="en-US" sz="2000" dirty="0" err="1" smtClean="0"/>
                  <a:t>역치</a:t>
                </a:r>
                <a:r>
                  <a:rPr lang="ko-KR" altLang="en-US" sz="2000" dirty="0" smtClean="0"/>
                  <a:t> 값</a:t>
                </a:r>
                <a:endParaRPr lang="en-US" altLang="ko-KR" sz="2000" dirty="0"/>
              </a:p>
            </p:txBody>
          </p:sp>
        </mc:Choice>
        <mc:Fallback>
          <p:sp>
            <p:nvSpPr>
              <p:cNvPr id="22" name="내용 개체 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554" y="2782208"/>
                <a:ext cx="4980709" cy="1567370"/>
              </a:xfrm>
              <a:prstGeom prst="rect">
                <a:avLst/>
              </a:prstGeom>
              <a:blipFill rotWithShape="0">
                <a:blip r:embed="rId6"/>
                <a:stretch>
                  <a:fillRect l="-1102" t="-3876" b="-89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직사각형 25"/>
              <p:cNvSpPr/>
              <p:nvPr/>
            </p:nvSpPr>
            <p:spPr>
              <a:xfrm>
                <a:off x="9304002" y="1405663"/>
                <a:ext cx="72276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>
          <p:sp>
            <p:nvSpPr>
              <p:cNvPr id="26" name="직사각형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4002" y="1405663"/>
                <a:ext cx="722762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직사각형 26"/>
              <p:cNvSpPr/>
              <p:nvPr/>
            </p:nvSpPr>
            <p:spPr>
              <a:xfrm>
                <a:off x="9053094" y="3637451"/>
                <a:ext cx="73103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>
          <p:sp>
            <p:nvSpPr>
              <p:cNvPr id="27" name="직사각형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3094" y="3637451"/>
                <a:ext cx="731034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4381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논리회로</a:t>
            </a:r>
            <a:r>
              <a:rPr lang="en-US" altLang="ko-KR" dirty="0" smtClean="0"/>
              <a:t>(AND, NAND, OR, XOR)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838200" y="1825625"/>
            <a:ext cx="2384502" cy="482677"/>
          </a:xfrm>
        </p:spPr>
        <p:txBody>
          <a:bodyPr/>
          <a:lstStyle/>
          <a:p>
            <a:r>
              <a:rPr lang="en-US" altLang="ko-KR" dirty="0" smtClean="0"/>
              <a:t>AND </a:t>
            </a:r>
            <a:r>
              <a:rPr lang="ko-KR" altLang="en-US" dirty="0" err="1" smtClean="0"/>
              <a:t>게이트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표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8125328"/>
                  </p:ext>
                </p:extLst>
              </p:nvPr>
            </p:nvGraphicFramePr>
            <p:xfrm>
              <a:off x="838200" y="2319454"/>
              <a:ext cx="2217234" cy="19180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9078"/>
                    <a:gridCol w="739078"/>
                    <a:gridCol w="739078"/>
                  </a:tblGrid>
                  <a:tr h="383602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y</a:t>
                          </a:r>
                          <a:endParaRPr lang="ko-KR" altLang="en-US" sz="1800" dirty="0" smtClean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7" name="표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8125328"/>
                  </p:ext>
                </p:extLst>
              </p:nvPr>
            </p:nvGraphicFramePr>
            <p:xfrm>
              <a:off x="838200" y="2319454"/>
              <a:ext cx="2217234" cy="19180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9078"/>
                    <a:gridCol w="739078"/>
                    <a:gridCol w="739078"/>
                  </a:tblGrid>
                  <a:tr h="38360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20" t="-9524" r="-202459" b="-420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1653" t="-9524" r="-104132" b="-420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y</a:t>
                          </a:r>
                          <a:endParaRPr lang="ko-KR" altLang="en-US" sz="1800" dirty="0" smtClean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내용 개체 틀 5"/>
          <p:cNvSpPr txBox="1">
            <a:spLocks/>
          </p:cNvSpPr>
          <p:nvPr/>
        </p:nvSpPr>
        <p:spPr>
          <a:xfrm>
            <a:off x="3222702" y="1829887"/>
            <a:ext cx="2577793" cy="48267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NAND </a:t>
            </a:r>
            <a:r>
              <a:rPr lang="ko-KR" altLang="en-US" dirty="0" err="1" smtClean="0"/>
              <a:t>게이트</a:t>
            </a:r>
            <a:endParaRPr lang="ko-KR" altLang="en-US" dirty="0"/>
          </a:p>
        </p:txBody>
      </p:sp>
      <p:sp>
        <p:nvSpPr>
          <p:cNvPr id="9" name="내용 개체 틀 5"/>
          <p:cNvSpPr txBox="1">
            <a:spLocks/>
          </p:cNvSpPr>
          <p:nvPr/>
        </p:nvSpPr>
        <p:spPr>
          <a:xfrm>
            <a:off x="5800495" y="1834149"/>
            <a:ext cx="2577793" cy="482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OR </a:t>
            </a:r>
            <a:r>
              <a:rPr lang="ko-KR" altLang="en-US" dirty="0" err="1" smtClean="0"/>
              <a:t>게이트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7233196"/>
                  </p:ext>
                </p:extLst>
              </p:nvPr>
            </p:nvGraphicFramePr>
            <p:xfrm>
              <a:off x="3388109" y="2349191"/>
              <a:ext cx="2217234" cy="19180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9078"/>
                    <a:gridCol w="739078"/>
                    <a:gridCol w="739078"/>
                  </a:tblGrid>
                  <a:tr h="383602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y</a:t>
                          </a:r>
                          <a:endParaRPr lang="ko-KR" altLang="en-US" sz="1800" dirty="0" smtClean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7233196"/>
                  </p:ext>
                </p:extLst>
              </p:nvPr>
            </p:nvGraphicFramePr>
            <p:xfrm>
              <a:off x="3388109" y="2349191"/>
              <a:ext cx="2217234" cy="19180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9078"/>
                    <a:gridCol w="739078"/>
                    <a:gridCol w="739078"/>
                  </a:tblGrid>
                  <a:tr h="38360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820" t="-9524" r="-202459" b="-420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1653" t="-9524" r="-104132" b="-420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y</a:t>
                          </a:r>
                          <a:endParaRPr lang="ko-KR" altLang="en-US" sz="1800" dirty="0" smtClean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표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7650418"/>
                  </p:ext>
                </p:extLst>
              </p:nvPr>
            </p:nvGraphicFramePr>
            <p:xfrm>
              <a:off x="5952887" y="2338040"/>
              <a:ext cx="2217234" cy="19180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9078"/>
                    <a:gridCol w="739078"/>
                    <a:gridCol w="739078"/>
                  </a:tblGrid>
                  <a:tr h="383602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y</a:t>
                          </a:r>
                          <a:endParaRPr lang="ko-KR" altLang="en-US" sz="1800" dirty="0" smtClean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1" name="표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7650418"/>
                  </p:ext>
                </p:extLst>
              </p:nvPr>
            </p:nvGraphicFramePr>
            <p:xfrm>
              <a:off x="5952887" y="2338040"/>
              <a:ext cx="2217234" cy="19180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9078"/>
                    <a:gridCol w="739078"/>
                    <a:gridCol w="739078"/>
                  </a:tblGrid>
                  <a:tr h="38360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820" t="-9524" r="-202459" b="-420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1653" t="-9524" r="-104132" b="-420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y</a:t>
                          </a:r>
                          <a:endParaRPr lang="ko-KR" altLang="en-US" sz="1800" dirty="0" smtClean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표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3492582"/>
                  </p:ext>
                </p:extLst>
              </p:nvPr>
            </p:nvGraphicFramePr>
            <p:xfrm>
              <a:off x="8573416" y="2338041"/>
              <a:ext cx="2217234" cy="19180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9078"/>
                    <a:gridCol w="739078"/>
                    <a:gridCol w="739078"/>
                  </a:tblGrid>
                  <a:tr h="383602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8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y</a:t>
                          </a:r>
                          <a:endParaRPr lang="ko-KR" altLang="en-US" sz="1800" dirty="0" smtClean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2" name="표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3492582"/>
                  </p:ext>
                </p:extLst>
              </p:nvPr>
            </p:nvGraphicFramePr>
            <p:xfrm>
              <a:off x="8573416" y="2338041"/>
              <a:ext cx="2217234" cy="19180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9078"/>
                    <a:gridCol w="739078"/>
                    <a:gridCol w="739078"/>
                  </a:tblGrid>
                  <a:tr h="38360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820" t="-9524" r="-202459" b="-420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101653" t="-9524" r="-104132" b="-420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y</a:t>
                          </a:r>
                          <a:endParaRPr lang="ko-KR" altLang="en-US" sz="1800" dirty="0" smtClean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8360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3" name="내용 개체 틀 5"/>
          <p:cNvSpPr txBox="1">
            <a:spLocks/>
          </p:cNvSpPr>
          <p:nvPr/>
        </p:nvSpPr>
        <p:spPr>
          <a:xfrm>
            <a:off x="8378288" y="1866514"/>
            <a:ext cx="2577793" cy="482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XOR </a:t>
            </a:r>
            <a:r>
              <a:rPr lang="ko-KR" altLang="en-US" dirty="0" err="1" smtClean="0"/>
              <a:t>게이트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225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퍼셉트론을</a:t>
            </a:r>
            <a:r>
              <a:rPr lang="ko-KR" altLang="en-US" dirty="0" smtClean="0"/>
              <a:t> 이용한 논리회로 표현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5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000786" cy="444136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≤ </m:t>
                    </m:r>
                    <m:r>
                      <a:rPr lang="ko-KR" altLang="en-US" sz="2400" b="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sz="2400" dirty="0" smtClean="0"/>
                  <a:t> </a:t>
                </a:r>
                <a:r>
                  <a:rPr lang="ko-KR" altLang="en-US" sz="2400" dirty="0" smtClean="0"/>
                  <a:t>이면 </a:t>
                </a:r>
                <a14:m>
                  <m:oMath xmlns:m="http://schemas.openxmlformats.org/officeDocument/2006/math"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2400" dirty="0" smtClean="0"/>
                  <a:t> = 0, </a:t>
                </a:r>
                <a:r>
                  <a:rPr lang="ko-KR" altLang="en-US" sz="2400" dirty="0" smtClean="0"/>
                  <a:t>아니면 </a:t>
                </a:r>
                <a14:m>
                  <m:oMath xmlns:m="http://schemas.openxmlformats.org/officeDocument/2006/math"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2400" dirty="0" smtClean="0"/>
                  <a:t> = 1</a:t>
                </a:r>
                <a:r>
                  <a:rPr lang="ko-KR" altLang="en-US" sz="2400" dirty="0" smtClean="0"/>
                  <a:t>로 해당 수식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:r>
                  <a:rPr lang="ko-KR" altLang="en-US" sz="2400" dirty="0" smtClean="0"/>
                  <a:t>계산 결과가 </a:t>
                </a:r>
                <a:r>
                  <a:rPr lang="ko-KR" altLang="en-US" sz="2400" dirty="0" err="1" smtClean="0"/>
                  <a:t>진리표와</a:t>
                </a:r>
                <a:r>
                  <a:rPr lang="ko-KR" altLang="en-US" sz="2400" dirty="0" smtClean="0"/>
                  <a:t> 일치하도록 만든다</a:t>
                </a:r>
                <a:r>
                  <a:rPr lang="en-US" altLang="ko-KR" sz="2400" dirty="0" smtClean="0"/>
                  <a:t>.</a:t>
                </a:r>
              </a:p>
              <a:p>
                <a:r>
                  <a:rPr lang="en-US" altLang="ko-KR" sz="2400" dirty="0" smtClean="0"/>
                  <a:t>AND</a:t>
                </a:r>
                <a:r>
                  <a:rPr lang="ko-KR" altLang="en-US" sz="2400" dirty="0" smtClean="0"/>
                  <a:t>회로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:r>
                  <a:rPr lang="en-US" altLang="ko-KR" sz="2000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20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2000" dirty="0" smtClean="0"/>
                  <a:t>, </a:t>
                </a:r>
                <a14:m>
                  <m:oMath xmlns:m="http://schemas.openxmlformats.org/officeDocument/2006/math">
                    <m:r>
                      <a:rPr lang="ko-KR" altLang="en-US" sz="2000" b="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sz="2000" dirty="0" smtClean="0"/>
                  <a:t>) – ( 0.4 0.4 0.7 ) ,</a:t>
                </a:r>
                <a:r>
                  <a:rPr lang="en-US" altLang="ko-KR" sz="2000" dirty="0" smtClean="0"/>
                  <a:t> ( 0.5 0.5 0.8 ) ,</a:t>
                </a:r>
                <a:r>
                  <a:rPr lang="en-US" altLang="ko-KR" sz="2000" dirty="0" smtClean="0"/>
                  <a:t> (1.0 1.0 1.0)</a:t>
                </a:r>
                <a:endParaRPr lang="en-US" altLang="ko-KR" sz="2400" dirty="0" smtClean="0"/>
              </a:p>
              <a:p>
                <a:endParaRPr lang="en-US" altLang="ko-KR" sz="2400" dirty="0" smtClean="0"/>
              </a:p>
              <a:p>
                <a:r>
                  <a:rPr lang="en-US" altLang="ko-KR" sz="2400" dirty="0" smtClean="0"/>
                  <a:t>NAND</a:t>
                </a:r>
                <a:r>
                  <a:rPr lang="ko-KR" altLang="en-US" sz="2400" dirty="0" smtClean="0"/>
                  <a:t>회로 </a:t>
                </a:r>
                <a:r>
                  <a:rPr lang="en-US" altLang="ko-KR" sz="2400" dirty="0" smtClean="0"/>
                  <a:t>( AND </a:t>
                </a:r>
                <a:r>
                  <a:rPr lang="ko-KR" altLang="en-US" sz="2400" dirty="0" smtClean="0"/>
                  <a:t>회로에 부호만 </a:t>
                </a:r>
                <a:r>
                  <a:rPr lang="en-US" altLang="ko-KR" sz="2400" dirty="0" smtClean="0"/>
                  <a:t>-)</a:t>
                </a:r>
                <a:br>
                  <a:rPr lang="en-US" altLang="ko-KR" sz="2400" dirty="0" smtClean="0"/>
                </a:br>
                <a:r>
                  <a:rPr lang="en-US" altLang="ko-KR" sz="2000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20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2000" dirty="0" smtClean="0"/>
                  <a:t>, </a:t>
                </a:r>
                <a14:m>
                  <m:oMath xmlns:m="http://schemas.openxmlformats.org/officeDocument/2006/math">
                    <m:r>
                      <a:rPr lang="ko-KR" altLang="en-US" sz="2000" b="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sz="2000" dirty="0" smtClean="0"/>
                  <a:t>) – ( -0.5 -0.5 -0.7 ) , ( -0.5 -0.5 -0.8 ) , (-1.0 -1.0 -1.0)</a:t>
                </a:r>
                <a:endParaRPr lang="en-US" altLang="ko-KR" sz="2400" dirty="0" smtClean="0"/>
              </a:p>
              <a:p>
                <a:endParaRPr lang="en-US" altLang="ko-KR" sz="2400" dirty="0" smtClean="0"/>
              </a:p>
              <a:p>
                <a:r>
                  <a:rPr lang="en-US" altLang="ko-KR" sz="2400" dirty="0" smtClean="0"/>
                  <a:t>OR</a:t>
                </a:r>
                <a:r>
                  <a:rPr lang="ko-KR" altLang="en-US" sz="2400" dirty="0" smtClean="0"/>
                  <a:t>회로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:r>
                  <a:rPr lang="en-US" altLang="ko-KR" sz="2000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20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2000" dirty="0" smtClean="0"/>
                  <a:t>, </a:t>
                </a:r>
                <a14:m>
                  <m:oMath xmlns:m="http://schemas.openxmlformats.org/officeDocument/2006/math">
                    <m:r>
                      <a:rPr lang="ko-KR" altLang="en-US" sz="2000" b="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sz="2000" dirty="0" smtClean="0"/>
                  <a:t>) – ( 0.4 0.4 0.4 ) , ( 0.3 0.3 0.2 ) , (1.0 1.0 1.0)</a:t>
                </a:r>
              </a:p>
              <a:p>
                <a:r>
                  <a:rPr lang="ko-KR" altLang="en-US" sz="2000" dirty="0" smtClean="0"/>
                  <a:t>결국 </a:t>
                </a:r>
                <a:r>
                  <a:rPr lang="en-US" altLang="ko-KR" sz="2000" dirty="0" smtClean="0"/>
                  <a:t>AND,</a:t>
                </a:r>
                <a:r>
                  <a:rPr lang="en-US" altLang="ko-KR" sz="2000" baseline="0" dirty="0" smtClean="0"/>
                  <a:t> NAND, OR</a:t>
                </a:r>
                <a:r>
                  <a:rPr lang="ko-KR" altLang="en-US" sz="2000" baseline="0" dirty="0" smtClean="0"/>
                  <a:t>회로는 </a:t>
                </a:r>
                <a:r>
                  <a:rPr lang="ko-KR" altLang="en-US" sz="2000" baseline="0" dirty="0" err="1" smtClean="0"/>
                  <a:t>퍼셉트론의</a:t>
                </a:r>
                <a:r>
                  <a:rPr lang="ko-KR" altLang="en-US" sz="2000" baseline="0" dirty="0" smtClean="0"/>
                  <a:t> 매개변수의 값만 다르고 같은 구조이다</a:t>
                </a:r>
                <a:r>
                  <a:rPr lang="en-US" altLang="ko-KR" sz="2000" baseline="0" dirty="0" smtClean="0"/>
                  <a:t>.</a:t>
                </a:r>
                <a:endParaRPr lang="ko-KR" altLang="en-US" sz="2000" dirty="0" smtClean="0"/>
              </a:p>
            </p:txBody>
          </p:sp>
        </mc:Choice>
        <mc:Fallback>
          <p:sp>
            <p:nvSpPr>
              <p:cNvPr id="6" name="내용 개체 틀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000786" cy="4441360"/>
              </a:xfrm>
              <a:blipFill rotWithShape="0">
                <a:blip r:embed="rId3"/>
                <a:stretch>
                  <a:fillRect l="-792" t="-19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0579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가중치와 편향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323063"/>
                <a:ext cx="10515600" cy="283241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기존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식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에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서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b="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dirty="0" err="1" smtClean="0"/>
                  <a:t>를</a:t>
                </a:r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-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ko-KR" altLang="en-US" dirty="0" smtClean="0"/>
                  <a:t> 치환해준 모습으로 사실상 같은 식</a:t>
                </a:r>
                <a:endParaRPr lang="en-US" altLang="ko-KR" dirty="0" smtClean="0"/>
              </a:p>
              <a:p>
                <a:r>
                  <a:rPr lang="ko-KR" altLang="en-US" dirty="0" smtClean="0"/>
                  <a:t>여기서 </a:t>
                </a:r>
                <a:r>
                  <a:rPr lang="en-US" altLang="ko-KR" dirty="0" smtClean="0"/>
                  <a:t>b</a:t>
                </a:r>
                <a:r>
                  <a:rPr lang="ko-KR" altLang="en-US" dirty="0" smtClean="0"/>
                  <a:t>를 </a:t>
                </a:r>
                <a:r>
                  <a:rPr lang="en-US" altLang="ko-KR" dirty="0" smtClean="0"/>
                  <a:t>bias, </a:t>
                </a:r>
                <a:r>
                  <a:rPr lang="ko-KR" altLang="en-US" dirty="0" smtClean="0"/>
                  <a:t>편향 이라고 한다</a:t>
                </a:r>
                <a:r>
                  <a:rPr lang="en-US" altLang="ko-KR" dirty="0" smtClean="0"/>
                  <a:t>.</a:t>
                </a:r>
              </a:p>
              <a:p>
                <a:r>
                  <a:rPr lang="ko-KR" altLang="en-US" dirty="0" smtClean="0"/>
                  <a:t>식은 결국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가중치와 편향 값에 의해 뉴런이 활성화됨을 의미</a:t>
                </a:r>
                <a:r>
                  <a:rPr lang="en-US" altLang="ko-KR" dirty="0" smtClean="0"/>
                  <a:t>.</a:t>
                </a:r>
                <a:endParaRPr lang="ko-KR" altLang="en-US" dirty="0"/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323063"/>
                <a:ext cx="10515600" cy="2832410"/>
              </a:xfrm>
              <a:blipFill rotWithShape="0">
                <a:blip r:embed="rId2"/>
                <a:stretch>
                  <a:fillRect l="-1043" t="-36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2"/>
              <p:cNvSpPr txBox="1">
                <a:spLocks/>
              </p:cNvSpPr>
              <p:nvPr/>
            </p:nvSpPr>
            <p:spPr>
              <a:xfrm>
                <a:off x="718450" y="1690688"/>
                <a:ext cx="6908984" cy="100604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0   (</m:t>
                              </m:r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≤0)</m:t>
                              </m:r>
                            </m:e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1   (</m:t>
                              </m:r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&gt;0)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>
          <p:sp>
            <p:nvSpPr>
              <p:cNvPr id="5" name="내용 개체 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50" y="1690688"/>
                <a:ext cx="6908984" cy="100604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8555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퍼셉트론의</a:t>
            </a:r>
            <a:r>
              <a:rPr lang="ko-KR" altLang="en-US" dirty="0" smtClean="0"/>
              <a:t> 한계 </a:t>
            </a:r>
            <a:r>
              <a:rPr lang="en-US" altLang="ko-KR" dirty="0" smtClean="0"/>
              <a:t>– XOR </a:t>
            </a:r>
            <a:r>
              <a:rPr lang="ko-KR" altLang="en-US" dirty="0" err="1" smtClean="0"/>
              <a:t>게이트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sz="2800" dirty="0" smtClean="0"/>
              <a:t>그림에서 ○끼리 </a:t>
            </a:r>
            <a:r>
              <a:rPr lang="en-US" altLang="ko-KR" sz="2800" dirty="0" smtClean="0"/>
              <a:t>,</a:t>
            </a:r>
            <a:r>
              <a:rPr lang="ko-KR" altLang="en-US" sz="2800" dirty="0" smtClean="0"/>
              <a:t>△끼리 나누는 직선은 존재하는가</a:t>
            </a:r>
            <a:r>
              <a:rPr lang="en-US" altLang="ko-KR" sz="2800" dirty="0" smtClean="0"/>
              <a:t>?</a:t>
            </a:r>
            <a:endParaRPr lang="ko-KR" altLang="en-US" dirty="0"/>
          </a:p>
        </p:txBody>
      </p:sp>
      <p:cxnSp>
        <p:nvCxnSpPr>
          <p:cNvPr id="5" name="직선 화살표 연결선 4"/>
          <p:cNvCxnSpPr/>
          <p:nvPr/>
        </p:nvCxnSpPr>
        <p:spPr>
          <a:xfrm flipV="1">
            <a:off x="1215484" y="5062654"/>
            <a:ext cx="3791415" cy="1115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/>
          <p:cNvCxnSpPr/>
          <p:nvPr/>
        </p:nvCxnSpPr>
        <p:spPr>
          <a:xfrm flipH="1" flipV="1">
            <a:off x="2040673" y="2832409"/>
            <a:ext cx="18585" cy="2761786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13570" y="5073806"/>
            <a:ext cx="345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0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021981" y="5081240"/>
            <a:ext cx="345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40673" y="3762866"/>
            <a:ext cx="345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2" name="이등변 삼각형 11"/>
          <p:cNvSpPr/>
          <p:nvPr/>
        </p:nvSpPr>
        <p:spPr>
          <a:xfrm>
            <a:off x="1958896" y="4009536"/>
            <a:ext cx="182138" cy="1721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이등변 삼각형 13"/>
          <p:cNvSpPr/>
          <p:nvPr/>
        </p:nvSpPr>
        <p:spPr>
          <a:xfrm>
            <a:off x="2958790" y="4995154"/>
            <a:ext cx="182138" cy="1721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1980270" y="4984673"/>
            <a:ext cx="139390" cy="1671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2958790" y="4014594"/>
            <a:ext cx="139390" cy="1671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직사각형 16"/>
              <p:cNvSpPr/>
              <p:nvPr/>
            </p:nvSpPr>
            <p:spPr>
              <a:xfrm>
                <a:off x="4517278" y="5167326"/>
                <a:ext cx="48962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7" name="직사각형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278" y="5167326"/>
                <a:ext cx="489621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직사각형 17"/>
              <p:cNvSpPr/>
              <p:nvPr/>
            </p:nvSpPr>
            <p:spPr>
              <a:xfrm>
                <a:off x="2040673" y="2743640"/>
                <a:ext cx="4949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8" name="직사각형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0673" y="2743640"/>
                <a:ext cx="494944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5598947" y="2832409"/>
                <a:ext cx="6477823" cy="283241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그</m:t>
                    </m:r>
                  </m:oMath>
                </a14:m>
                <a:r>
                  <a:rPr lang="ko-KR" altLang="en-US" dirty="0" smtClean="0"/>
                  <a:t>림에서 삼각형이 </a:t>
                </a:r>
                <a:r>
                  <a:rPr lang="en-US" altLang="ko-KR" dirty="0" smtClean="0"/>
                  <a:t>1, </a:t>
                </a:r>
                <a:r>
                  <a:rPr lang="ko-KR" altLang="en-US" dirty="0" smtClean="0"/>
                  <a:t>원이 </a:t>
                </a:r>
                <a:r>
                  <a:rPr lang="en-US" altLang="ko-KR" dirty="0" smtClean="0"/>
                  <a:t>0</a:t>
                </a:r>
              </a:p>
              <a:p>
                <a:r>
                  <a:rPr lang="ko-KR" altLang="en-US" dirty="0" smtClean="0"/>
                  <a:t>결국 이 그림의 의미는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r>
                  <a:rPr lang="en-US" altLang="ko-KR" sz="2000" dirty="0" smtClean="0"/>
                  <a:t>- XOR </a:t>
                </a:r>
                <a:r>
                  <a:rPr lang="ko-KR" altLang="en-US" sz="2000" dirty="0" err="1" smtClean="0"/>
                  <a:t>게이트가</a:t>
                </a:r>
                <a:r>
                  <a:rPr lang="ko-KR" altLang="en-US" sz="2000" dirty="0" smtClean="0"/>
                  <a:t> 기존의 </a:t>
                </a:r>
                <a:r>
                  <a:rPr lang="ko-KR" altLang="en-US" sz="2000" dirty="0" err="1" smtClean="0"/>
                  <a:t>퍼셉트론으로</a:t>
                </a:r>
                <a:r>
                  <a:rPr lang="ko-KR" altLang="en-US" sz="2000" dirty="0" smtClean="0"/>
                  <a:t> 표현 가능한가</a:t>
                </a:r>
                <a:endParaRPr lang="en-US" altLang="ko-KR" sz="2000" dirty="0" smtClean="0"/>
              </a:p>
              <a:p>
                <a:r>
                  <a:rPr lang="ko-KR" altLang="en-US" dirty="0" smtClean="0"/>
                  <a:t>이와 같은 기존의 선형 영역으로 표현 불가능</a:t>
                </a:r>
                <a:endParaRPr lang="ko-KR" altLang="en-US" dirty="0"/>
              </a:p>
            </p:txBody>
          </p:sp>
        </mc:Choice>
        <mc:Fallback>
          <p:sp>
            <p:nvSpPr>
              <p:cNvPr id="19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98947" y="2832409"/>
                <a:ext cx="6477823" cy="2832410"/>
              </a:xfrm>
              <a:blipFill rotWithShape="0">
                <a:blip r:embed="rId4"/>
                <a:stretch>
                  <a:fillRect l="-1693" t="-3879" r="-2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2642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다층 </a:t>
            </a:r>
            <a:r>
              <a:rPr lang="ko-KR" altLang="en-US" dirty="0" err="1" smtClean="0"/>
              <a:t>퍼셉트론의</a:t>
            </a:r>
            <a:r>
              <a:rPr lang="ko-KR" altLang="en-US" dirty="0" smtClean="0"/>
              <a:t> 도입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5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000786" cy="444136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≤ </m:t>
                    </m:r>
                    <m:r>
                      <a:rPr lang="ko-KR" altLang="en-US" sz="2400" b="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sz="2400" dirty="0" smtClean="0"/>
                  <a:t> </a:t>
                </a:r>
                <a:r>
                  <a:rPr lang="ko-KR" altLang="en-US" sz="2400" dirty="0" smtClean="0"/>
                  <a:t>이면 </a:t>
                </a:r>
                <a14:m>
                  <m:oMath xmlns:m="http://schemas.openxmlformats.org/officeDocument/2006/math"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2400" dirty="0" smtClean="0"/>
                  <a:t> = 0, </a:t>
                </a:r>
                <a:r>
                  <a:rPr lang="ko-KR" altLang="en-US" sz="2400" dirty="0" smtClean="0"/>
                  <a:t>아니면 </a:t>
                </a:r>
                <a14:m>
                  <m:oMath xmlns:m="http://schemas.openxmlformats.org/officeDocument/2006/math"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2400" dirty="0" smtClean="0"/>
                  <a:t> = 1</a:t>
                </a:r>
                <a:r>
                  <a:rPr lang="ko-KR" altLang="en-US" sz="2400" dirty="0" smtClean="0"/>
                  <a:t>로 해당 수식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:r>
                  <a:rPr lang="ko-KR" altLang="en-US" sz="2400" dirty="0" smtClean="0"/>
                  <a:t>계산 결과가 </a:t>
                </a:r>
                <a:r>
                  <a:rPr lang="ko-KR" altLang="en-US" sz="2400" dirty="0" err="1" smtClean="0"/>
                  <a:t>진리표와</a:t>
                </a:r>
                <a:r>
                  <a:rPr lang="ko-KR" altLang="en-US" sz="2400" dirty="0" smtClean="0"/>
                  <a:t> 일치하도록 만든다</a:t>
                </a:r>
                <a:r>
                  <a:rPr lang="en-US" altLang="ko-KR" sz="2400" dirty="0" smtClean="0"/>
                  <a:t>.</a:t>
                </a:r>
              </a:p>
              <a:p>
                <a:r>
                  <a:rPr lang="en-US" altLang="ko-KR" sz="2400" dirty="0" smtClean="0"/>
                  <a:t>AND</a:t>
                </a:r>
                <a:r>
                  <a:rPr lang="ko-KR" altLang="en-US" sz="2400" dirty="0" smtClean="0"/>
                  <a:t>회로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:r>
                  <a:rPr lang="en-US" altLang="ko-KR" sz="2000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20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2000" dirty="0" smtClean="0"/>
                  <a:t>, </a:t>
                </a:r>
                <a14:m>
                  <m:oMath xmlns:m="http://schemas.openxmlformats.org/officeDocument/2006/math">
                    <m:r>
                      <a:rPr lang="ko-KR" altLang="en-US" sz="2000" b="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sz="2000" dirty="0" smtClean="0"/>
                  <a:t>) – ( 0.4 0.4 0.7 ) ,</a:t>
                </a:r>
                <a:r>
                  <a:rPr lang="en-US" altLang="ko-KR" sz="2000" dirty="0" smtClean="0"/>
                  <a:t> ( 0.5 0.5 0.8 ) ,</a:t>
                </a:r>
                <a:r>
                  <a:rPr lang="en-US" altLang="ko-KR" sz="2000" dirty="0" smtClean="0"/>
                  <a:t> (1.0 1.0 1.0)</a:t>
                </a:r>
                <a:endParaRPr lang="en-US" altLang="ko-KR" sz="2400" dirty="0" smtClean="0"/>
              </a:p>
              <a:p>
                <a:endParaRPr lang="en-US" altLang="ko-KR" sz="2400" dirty="0" smtClean="0"/>
              </a:p>
              <a:p>
                <a:r>
                  <a:rPr lang="en-US" altLang="ko-KR" sz="2400" dirty="0" smtClean="0"/>
                  <a:t>NAND</a:t>
                </a:r>
                <a:r>
                  <a:rPr lang="ko-KR" altLang="en-US" sz="2400" dirty="0" smtClean="0"/>
                  <a:t>회로 </a:t>
                </a:r>
                <a:r>
                  <a:rPr lang="en-US" altLang="ko-KR" sz="2400" dirty="0" smtClean="0"/>
                  <a:t>( AND </a:t>
                </a:r>
                <a:r>
                  <a:rPr lang="ko-KR" altLang="en-US" sz="2400" dirty="0" smtClean="0"/>
                  <a:t>회로에 부호만 </a:t>
                </a:r>
                <a:r>
                  <a:rPr lang="en-US" altLang="ko-KR" sz="2400" dirty="0" smtClean="0"/>
                  <a:t>-)</a:t>
                </a:r>
                <a:br>
                  <a:rPr lang="en-US" altLang="ko-KR" sz="2400" dirty="0" smtClean="0"/>
                </a:br>
                <a:r>
                  <a:rPr lang="en-US" altLang="ko-KR" sz="2000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20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2000" dirty="0" smtClean="0"/>
                  <a:t>, </a:t>
                </a:r>
                <a14:m>
                  <m:oMath xmlns:m="http://schemas.openxmlformats.org/officeDocument/2006/math">
                    <m:r>
                      <a:rPr lang="ko-KR" altLang="en-US" sz="2000" b="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sz="2000" dirty="0" smtClean="0"/>
                  <a:t>) – ( -0.5 -0.5 -0.7 ) , ( -0.5 -0.5 -0.8 ) , (-1.0 -1.0 -1.0)</a:t>
                </a:r>
                <a:endParaRPr lang="en-US" altLang="ko-KR" sz="2400" dirty="0" smtClean="0"/>
              </a:p>
              <a:p>
                <a:endParaRPr lang="en-US" altLang="ko-KR" sz="2400" dirty="0" smtClean="0"/>
              </a:p>
              <a:p>
                <a:r>
                  <a:rPr lang="en-US" altLang="ko-KR" sz="2400" dirty="0" smtClean="0"/>
                  <a:t>OR</a:t>
                </a:r>
                <a:r>
                  <a:rPr lang="ko-KR" altLang="en-US" sz="2400" dirty="0" smtClean="0"/>
                  <a:t>회로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:r>
                  <a:rPr lang="en-US" altLang="ko-KR" sz="2000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20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2000" dirty="0" smtClean="0"/>
                  <a:t>, </a:t>
                </a:r>
                <a14:m>
                  <m:oMath xmlns:m="http://schemas.openxmlformats.org/officeDocument/2006/math">
                    <m:r>
                      <a:rPr lang="ko-KR" altLang="en-US" sz="2000" b="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sz="2000" dirty="0" smtClean="0"/>
                  <a:t>) – ( 0.4 0.4 0.4 ) , ( 0.3 0.3 0.2 ) , (1.0 1.0 1.0)</a:t>
                </a:r>
              </a:p>
              <a:p>
                <a:r>
                  <a:rPr lang="ko-KR" altLang="en-US" sz="2000" dirty="0" smtClean="0"/>
                  <a:t>결국 </a:t>
                </a:r>
                <a:r>
                  <a:rPr lang="en-US" altLang="ko-KR" sz="2000" dirty="0" smtClean="0"/>
                  <a:t>AND,</a:t>
                </a:r>
                <a:r>
                  <a:rPr lang="en-US" altLang="ko-KR" sz="2000" baseline="0" dirty="0" smtClean="0"/>
                  <a:t> NAND, OR</a:t>
                </a:r>
                <a:r>
                  <a:rPr lang="ko-KR" altLang="en-US" sz="2000" baseline="0" dirty="0" smtClean="0"/>
                  <a:t>회로는 </a:t>
                </a:r>
                <a:r>
                  <a:rPr lang="ko-KR" altLang="en-US" sz="2000" baseline="0" dirty="0" err="1" smtClean="0"/>
                  <a:t>퍼셉트론의</a:t>
                </a:r>
                <a:r>
                  <a:rPr lang="ko-KR" altLang="en-US" sz="2000" baseline="0" dirty="0" smtClean="0"/>
                  <a:t> 매개변수의 값만 다르고 같은 구조이다</a:t>
                </a:r>
                <a:r>
                  <a:rPr lang="en-US" altLang="ko-KR" sz="2000" baseline="0" dirty="0" smtClean="0"/>
                  <a:t>.</a:t>
                </a:r>
                <a:endParaRPr lang="ko-KR" altLang="en-US" sz="2000" dirty="0" smtClean="0"/>
              </a:p>
            </p:txBody>
          </p:sp>
        </mc:Choice>
        <mc:Fallback>
          <p:sp>
            <p:nvSpPr>
              <p:cNvPr id="6" name="내용 개체 틀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000786" cy="4441360"/>
              </a:xfrm>
              <a:blipFill rotWithShape="0">
                <a:blip r:embed="rId3"/>
                <a:stretch>
                  <a:fillRect l="-792" t="-19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8814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610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208</Words>
  <Application>Microsoft Office PowerPoint</Application>
  <PresentationFormat>와이드스크린</PresentationFormat>
  <Paragraphs>113</Paragraphs>
  <Slides>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Cambria Math</vt:lpstr>
      <vt:lpstr>Office 테마</vt:lpstr>
      <vt:lpstr>2장 퍼셉트론</vt:lpstr>
      <vt:lpstr>퍼셉트론 알고리즘</vt:lpstr>
      <vt:lpstr>논리회로(AND, NAND, OR, XOR)</vt:lpstr>
      <vt:lpstr>퍼셉트론을 이용한 논리회로 표현</vt:lpstr>
      <vt:lpstr>가중치와 편향</vt:lpstr>
      <vt:lpstr>퍼셉트론의 한계 – XOR 게이트 그림에서 ○끼리 ,△끼리 나누는 직선은 존재하는가?</vt:lpstr>
      <vt:lpstr>다층 퍼셉트론의 도입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2장 퍼셉트론</dc:title>
  <dc:creator>카운터</dc:creator>
  <cp:lastModifiedBy>카운터</cp:lastModifiedBy>
  <cp:revision>7</cp:revision>
  <dcterms:created xsi:type="dcterms:W3CDTF">2017-04-28T07:20:01Z</dcterms:created>
  <dcterms:modified xsi:type="dcterms:W3CDTF">2017-04-28T08:17:56Z</dcterms:modified>
</cp:coreProperties>
</file>